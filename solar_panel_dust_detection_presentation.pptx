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164592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00"/>
          </a:xfrm>
          <a:prstGeom prst="rect">
            <a:avLst/>
          </a:prstGeom>
          <a:solidFill>
            <a:srgbClr val="0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Mitigating Dataset Imbalance in
Solar Panel Dust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09A12"/>
                </a:solidFill>
                <a:latin typeface="Calibri"/>
              </a:rPr>
              <a:t>Using Stable Diffusion XL and SMOTE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840480"/>
            <a:ext cx="5760720" cy="36576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CCEE"/>
                </a:solidFill>
                <a:latin typeface="Calibri"/>
              </a:rPr>
              <a:t>Undergraduate Research Project  ·  Department of 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CC"/>
                </a:solidFill>
                <a:latin typeface="Calibri"/>
              </a:rPr>
              <a:t>Deep Learning   ·   Generative AI   ·   SMOTE   ·   Transfer Learning   ·   Image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88AA"/>
                </a:solidFill>
                <a:latin typeface="Calibri"/>
              </a:rP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207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Introduction &amp; Background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9344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934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29968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048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50592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5059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Literature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71216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7121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8895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Dataset Description — SolNET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3101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Methodology Overview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12464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1246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SMOTE — Feature-Space Resampling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188720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18872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1207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Stable Diffusion XL — Image Synthesis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609344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60934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1627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Image Quality Validation (FID / KID / pHash)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029968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0299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2048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VGG16 Transfer Learning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450592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45059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Experimental Setup &amp; Data Augmentation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871216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287121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28895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Results &amp; Evaluation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291840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29184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33101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712464"/>
            <a:ext cx="475488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1246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References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 &amp;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2144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900" b="1" i="0">
                <a:solidFill>
                  <a:srgbClr val="0D2F4E"/>
                </a:solidFill>
                <a:latin typeface="Calibri"/>
              </a:rPr>
              <a:t>Solar Energy &amp; Panel Maintenance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1C1C1C"/>
                </a:solidFill>
                <a:latin typeface="Calibri"/>
              </a:rPr>
              <a:t>  ▶  Solar panels are critical renewable energy infrastructure worldwide.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1C1C1C"/>
                </a:solidFill>
                <a:latin typeface="Calibri"/>
              </a:rPr>
              <a:t>  ▶  Dust and dirt accumulation on panels can reduce efficiency by 15–30%.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1C1C1C"/>
                </a:solidFill>
                <a:latin typeface="Calibri"/>
              </a:rPr>
              <a:t>  ▶  Automated dust detection enables proactive maintenance and cost savings.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900" b="1" i="0">
                <a:solidFill>
                  <a:srgbClr val="0D2F4E"/>
                </a:solidFill>
                <a:latin typeface="Calibri"/>
              </a:rPr>
              <a:t>The Dataset Imbalance Problem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1C1C1C"/>
                </a:solidFill>
                <a:latin typeface="Calibri"/>
              </a:rPr>
              <a:t>  ▶  Real-world datasets for solar panel inspection are often imbalanced —
       'clean' panels significantly outnumber 'dirty' ones.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1C1C1C"/>
                </a:solidFill>
                <a:latin typeface="Calibri"/>
              </a:rPr>
              <a:t>  ▶  Class imbalance causes classifiers to be biased toward the majority class.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1C1C1C"/>
                </a:solidFill>
                <a:latin typeface="Calibri"/>
              </a:rPr>
              <a:t>  ▶  Standard accuracy metrics become misleading when classes are skewed.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900" b="1" i="0">
                <a:solidFill>
                  <a:srgbClr val="0D2F4E"/>
                </a:solidFill>
                <a:latin typeface="Calibri"/>
              </a:rPr>
              <a:t>Why This Research Matters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1C1C1C"/>
                </a:solidFill>
                <a:latin typeface="Calibri"/>
              </a:rPr>
              <a:t>  ▶  Developing robust imbalance-mitigation strategies is essential for reliable
       real-world deployment of computer vision models.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1C1C1C"/>
                </a:solidFill>
                <a:latin typeface="Calibri"/>
              </a:rPr>
              <a:t>  ▶  This project investigates a hybrid approach combining traditional resampling
       (SMOTE) with modern generative AI (Stable Diffusion XL).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01168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Calibri"/>
              </a:rPr>
              <a:t>"The SolNET solar panel dataset exhibits significant class imbalance between
clean and dust-covered panel images. This imbalance leads to biased deep learning
classifiers that fail to reliably detect the minority (dirty) class — directly
impacting maintenance scheduling and energy yield in solar farms."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337560"/>
            <a:ext cx="34747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456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C1C1C"/>
                </a:solidFill>
                <a:latin typeface="Calibr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136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F4E"/>
                </a:solidFill>
                <a:latin typeface="Calibri"/>
              </a:rPr>
              <a:t>Severe Class
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3A5C"/>
                </a:solidFill>
                <a:latin typeface="Calibri"/>
              </a:rPr>
              <a:t>Unequal distribution of clean vs. dirty images skews model training.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337560"/>
            <a:ext cx="34747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456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C1C1C"/>
                </a:solidFill>
                <a:latin typeface="Calibr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39136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F4E"/>
                </a:solidFill>
                <a:latin typeface="Calibri"/>
              </a:rPr>
              <a:t>Model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3A5C"/>
                </a:solidFill>
                <a:latin typeface="Calibri"/>
              </a:rPr>
              <a:t>Classifiers default to majority class, missing critical fault detections.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3337560"/>
            <a:ext cx="34747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3456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C1C1C"/>
                </a:solidFill>
                <a:latin typeface="Calibri"/>
              </a:rP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9136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F4E"/>
                </a:solidFill>
                <a:latin typeface="Calibri"/>
              </a:rPr>
              <a:t>Poor Minority
Class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3A5C"/>
                </a:solidFill>
                <a:latin typeface="Calibri"/>
              </a:rPr>
              <a:t>High overall accuracy masks very low recall on the dirty class.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475488" cy="402336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Analyse Class Imbalance — Quantify the imbalance in the SolNET dataset and its impact on baseline classification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36776"/>
            <a:ext cx="475488" cy="4023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36776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5506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Apply SMOTE Resampling — Use SMOTE to synthetically balance the dataset in VGG16 feature space and evaluate its effectiveness.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475488" cy="402336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214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Generate Synthetic Images via SDXL — Employ Stable Diffusion XL to generate photorealistic dirty solar panel images, augmenting the minority class.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69464"/>
            <a:ext cx="475488" cy="40233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6946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587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Validate Generated Image Quality — Assess generated images using FID, KID, and perceptual hashing (pHash) to ensure quality and diversity.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35808"/>
            <a:ext cx="475488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3580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5409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Train a Robust VGG16 Classifier — Build a two-stage transfer-learning model on the merged real + synthetic dataset with data augmentation.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02152"/>
            <a:ext cx="475488" cy="402336"/>
          </a:xfrm>
          <a:prstGeom prst="rect">
            <a:avLst/>
          </a:prstGeom>
          <a:solidFill>
            <a:srgbClr val="16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50215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Evaluate with 10-Fold Stratified CV — Rigorously evaluate model performance using stratified cross-validation; report accuracy, precision, recall, F1.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2144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800" b="1" i="0">
                <a:solidFill>
                  <a:srgbClr val="0D2F4E"/>
                </a:solidFill>
                <a:latin typeface="Calibri"/>
              </a:rPr>
              <a:t>Dataset Imbalance in Computer Vision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Chawla et al. (2002) — Introduced SMOTE as an effective over-sampling technique
       for imbalanced classification tasks.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He &amp; Garcia (2009) — Survey of learning from imbalanced data; reviewed cost-sensitive
       learning, one-class learning, and sampling methods.</a:t>
            </a:r>
          </a:p>
          <a:p>
            <a:pPr algn="l">
              <a:spcBef>
                <a:spcPts val="500"/>
              </a:spcBef>
            </a:pPr>
            <a:r>
              <a:rPr sz="7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800" b="1" i="0">
                <a:solidFill>
                  <a:srgbClr val="0D2F4E"/>
                </a:solidFill>
                <a:latin typeface="Calibri"/>
              </a:rPr>
              <a:t>Solar Panel Inspection with Deep Learning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Pratt et al. (2021) — Applied CNNs for soiling detection on PV panels; highlighted
       class imbalance as a major challenge.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Touil et al. (2022) — Used VGG16 for solar panel fault classification achieving
       high accuracy with transfer learning.</a:t>
            </a:r>
          </a:p>
          <a:p>
            <a:pPr algn="l">
              <a:spcBef>
                <a:spcPts val="500"/>
              </a:spcBef>
            </a:pPr>
            <a:r>
              <a:rPr sz="7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800" b="1" i="0">
                <a:solidFill>
                  <a:srgbClr val="0D2F4E"/>
                </a:solidFill>
                <a:latin typeface="Calibri"/>
              </a:rPr>
              <a:t>Generative Models for Data Augmentation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Rombach et al. (2022) — Proposed Latent Diffusion Models (LDMs), the basis for
       Stable Diffusion XL, enabling high-quality image synthesis.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Podell et al. (2023) — Stable Diffusion XL achieves state-of-the-art results
       in text-to-image generation with fine-grained control.</a:t>
            </a:r>
          </a:p>
          <a:p>
            <a:pPr algn="l">
              <a:spcBef>
                <a:spcPts val="500"/>
              </a:spcBef>
            </a:pPr>
            <a:r>
              <a:rPr sz="7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800" b="1" i="0">
                <a:solidFill>
                  <a:srgbClr val="0D2F4E"/>
                </a:solidFill>
                <a:latin typeface="Calibri"/>
              </a:rPr>
              <a:t>Image Quality Assessment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Heusel et al. (2017) — Fréchet Inception Distance (FID) as a standard metric
       for evaluating generative model output quality.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Binkowski et al. (2018) — Kernel Inception Distance (KID) as an unbiased
       alternative to FID for small dataset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Description — SolNET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800" b="1" i="0">
                <a:solidFill>
                  <a:srgbClr val="0D2F4E"/>
                </a:solidFill>
                <a:latin typeface="Calibri"/>
              </a:rPr>
              <a:t>SolNET Dataset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Binary classification dataset for solar panel condition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Images captured under real-world outdoor conditions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Two classes: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      ✔  clean  — dust-free, fully operational panels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      ✔  dirty  — dust / grime-covered panels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Standard image format: JPEG / PNG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Spatial resolution: variable (resized to 224×224 for model)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Split strategy: stratified 10-fold cross-validation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88720"/>
            <a:ext cx="58521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4E"/>
                </a:solidFill>
                <a:latin typeface="Calibri"/>
              </a:rPr>
              <a:t>Class Distribution (Illustrative)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810512"/>
            <a:ext cx="420624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48288" y="17830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Dirty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313432"/>
            <a:ext cx="182880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22860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~30%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346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⚠  Imbalance Ratio ≈ 2.3 : 1
Impact on model:
  • High overall accuracy but poor recall on dirty class
  • Model tends to predict 'clean' for ambiguous cases
  • False negatives are costly — missed dust = energy loss
Solution applied in this project:
  • SMOTE — over-sample dirty features
  • Stable Diffusion XL — generate synthetic dirty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83080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▶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325880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00784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Loading
&amp; EDA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97480"/>
            <a:ext cx="13258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C"/>
                </a:solidFill>
                <a:latin typeface="Calibri"/>
              </a:rPr>
              <a:t>Load SolNET
Analyse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783080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1280160"/>
            <a:ext cx="1325880" cy="141732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3533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700784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Feature
Extraction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697480"/>
            <a:ext cx="13258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2743200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C"/>
                </a:solidFill>
                <a:latin typeface="Calibri"/>
              </a:rPr>
              <a:t>VGG16 base
(frozen, GAP)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783080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1280160"/>
            <a:ext cx="1325880" cy="1417320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13533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1700784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SMOTE
Resampling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697480"/>
            <a:ext cx="13258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F0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2743200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C"/>
                </a:solidFill>
                <a:latin typeface="Calibri"/>
              </a:rPr>
              <a:t>Balance features
in latent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1783080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280160"/>
            <a:ext cx="1325880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13533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700784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SDXL
Synthesis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697480"/>
            <a:ext cx="13258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743200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C"/>
                </a:solidFill>
                <a:latin typeface="Calibri"/>
              </a:rPr>
              <a:t>Generate dirty
panel 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783080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1280160"/>
            <a:ext cx="132588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13533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1700784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Quality
Validation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2697480"/>
            <a:ext cx="13258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2743200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C"/>
                </a:solidFill>
                <a:latin typeface="Calibri"/>
              </a:rPr>
              <a:t>FID / KID
pHash diversity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1783080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1280160"/>
            <a:ext cx="1325880" cy="1417320"/>
          </a:xfrm>
          <a:prstGeom prst="rect">
            <a:avLst/>
          </a:prstGeom>
          <a:solidFill>
            <a:srgbClr val="16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13533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1700784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Merge &amp;
Augment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2697480"/>
            <a:ext cx="13258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16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2743200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C"/>
                </a:solidFill>
                <a:latin typeface="Calibri"/>
              </a:rPr>
              <a:t>Real + synthetic
tf.data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1783080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23960" y="1280160"/>
            <a:ext cx="1325880" cy="141732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13533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1700784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VGG16
Training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3960" y="2697480"/>
            <a:ext cx="13258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0D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2743200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C"/>
                </a:solidFill>
                <a:latin typeface="Calibri"/>
              </a:rPr>
              <a:t>2-stage transfer
learning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41280" y="1280160"/>
            <a:ext cx="1325880" cy="1417320"/>
          </a:xfrm>
          <a:prstGeom prst="rect">
            <a:avLst/>
          </a:prstGeom>
          <a:solidFill>
            <a:srgbClr val="C03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0" y="13533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1700784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10-Fold CV
&amp; Report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1280" y="2697480"/>
            <a:ext cx="13258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87000" y="2743200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C"/>
                </a:solidFill>
                <a:latin typeface="Calibri"/>
              </a:rPr>
              <a:t>Metrics &amp;
visualisation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SMOTE — Synthetic Minority Over-sampling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0D2F4E"/>
                </a:solidFill>
                <a:latin typeface="Calibri"/>
              </a:rPr>
              <a:t>What is SMOTE?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SMOTE (Chawla et al., 2002) creates synthetic minority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class samples by interpolating in feature space: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0D2F4E"/>
                </a:solidFill>
                <a:latin typeface="Calibri"/>
              </a:rPr>
              <a:t>Algorithm: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1.  For each minority sample x_i, find its k nearest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   neighbours from the minority class.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2.  Randomly select a neighbour x_nn.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3.  Generate a synthetic sample: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     x_new = x_i + λ × (x_nn − x_i)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   where λ ~ Uniform(0, 1).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0D2F4E"/>
                </a:solidFill>
                <a:latin typeface="Calibri"/>
              </a:rPr>
              <a:t>Application in this project: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▶  VGG16 GlobalAveragePooling features (512-D) are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   extracted from all images.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▶  SMOTE is applied to the feature vectors to balance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   clean vs. dirty classes.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▶  PCA is used to visualise the before/after distribution.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6692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4E"/>
                </a:solidFill>
                <a:latin typeface="Calibri"/>
              </a:rPr>
              <a:t>Feature Space Visualisation (PCA)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8A"/>
                </a:solidFill>
                <a:latin typeface="Calibri"/>
              </a:rPr>
              <a:t>Before SMOTE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57400"/>
            <a:ext cx="2286000" cy="1737360"/>
          </a:xfrm>
          <a:prstGeom prst="rect">
            <a:avLst/>
          </a:prstGeom>
          <a:solidFill>
            <a:srgbClr val="EEF5FF"/>
          </a:solidFill>
          <a:ln w="635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8844"/>
                </a:solidFill>
                <a:latin typeface="Calibri"/>
              </a:rPr>
              <a:t>● ● ● ● ● ●  Clean
● ● ● ● ● ●
● ● ● ● ● ●
● ●  Dirty
● 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737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After SMOTE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2057400"/>
            <a:ext cx="2651760" cy="1737360"/>
          </a:xfrm>
          <a:prstGeom prst="rect">
            <a:avLst/>
          </a:prstGeom>
          <a:solidFill>
            <a:srgbClr val="F0FFF4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14884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702E"/>
                </a:solidFill>
                <a:latin typeface="Calibri"/>
              </a:rPr>
              <a:t>● ● ● ● ● ●  Clean
● ● ● ● ● ●
● ● ● ● ● ●
◆ ◆ ◆ ◆ ◆ ◆  Dirty (SMOTE)
◆ ◆ ◆ ◆ ◆ ◆
◆ ◆ ◆ 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931920"/>
            <a:ext cx="5349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Key Benefits of SMOTE:
  ✔  No information loss (unlike undersampling)
  ✔  Creates diverse synthetic samples
  ✔  Works in learned feature space
  ✔  Simple, interpretable algorithm
Limitation:
  ✘  Interpolates in abstract feature space — generated
      samples cannot be directly visualised as images
  ✘  May introduce noise near decision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Stable Diffusion XL — Image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2144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800" b="1" i="0">
                <a:solidFill>
                  <a:srgbClr val="0D2F4E"/>
                </a:solidFill>
                <a:latin typeface="Calibri"/>
              </a:rPr>
              <a:t>What is Stable Diffusion XL (SDXL)?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SDXL is a state-of-the-art latent diffusion model developed by Stability AI (Podell et al., 2023).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It generates photorealistic images conditioned on text prompts via a reverse diffusion process.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Operates in a compressed latent space using a VAE encoder/decoder for computational efficiency.</a:t>
            </a:r>
          </a:p>
          <a:p>
            <a:pPr algn="l">
              <a:spcBef>
                <a:spcPts val="500"/>
              </a:spcBef>
            </a:pPr>
            <a:r>
              <a:rPr sz="7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800" b="1" i="0">
                <a:solidFill>
                  <a:srgbClr val="0D2F4E"/>
                </a:solidFill>
                <a:latin typeface="Calibri"/>
              </a:rPr>
              <a:t>How SDXL is Used in This Project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Prompt examples for dirty solar panel generation:</a:t>
            </a:r>
          </a:p>
          <a:p>
            <a:pPr algn="l">
              <a:spcBef>
                <a:spcPts val="500"/>
              </a:spcBef>
            </a:pPr>
            <a:r>
              <a:rPr sz="1300" b="0" i="1">
                <a:solidFill>
                  <a:srgbClr val="1A5C8A"/>
                </a:solidFill>
                <a:latin typeface="Calibri"/>
              </a:rPr>
              <a:t>       "A solar panel heavily covered with dust and dirt, outdoor environment, photorealistic"</a:t>
            </a:r>
          </a:p>
          <a:p>
            <a:pPr algn="l">
              <a:spcBef>
                <a:spcPts val="500"/>
              </a:spcBef>
            </a:pPr>
            <a:r>
              <a:rPr sz="1300" b="0" i="1">
                <a:solidFill>
                  <a:srgbClr val="1A5C8A"/>
                </a:solidFill>
                <a:latin typeface="Calibri"/>
              </a:rPr>
              <a:t>       "Dusty solar panel surface with grime and sand deposits, close-up photograph"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Negative prompt suppresses: cartoon, blurry, watermark, clean/spotless panels.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DPM-Solver++ scheduler — 30 inference steps, guidance scale 7.5.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GPU inference with float16 precision; xFormers memory-efficient attention enabled.</a:t>
            </a:r>
          </a:p>
          <a:p>
            <a:pPr algn="l">
              <a:spcBef>
                <a:spcPts val="500"/>
              </a:spcBef>
            </a:pPr>
            <a:r>
              <a:rPr sz="7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800" b="1" i="0">
                <a:solidFill>
                  <a:srgbClr val="0D2F4E"/>
                </a:solidFill>
                <a:latin typeface="Calibri"/>
              </a:rPr>
              <a:t>Why SDXL over GAN-based augmentation?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Higher image fidelity and diversity than DCGAN or StyleGAN for small datasets.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Text-guided generation allows domain-specific control without paired training data.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Pre-trained on billions of images — strong generalisation to solar panel domain.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C1C1C"/>
                </a:solidFill>
                <a:latin typeface="Calibri"/>
              </a:rPr>
              <a:t>  ▶  Generated images augment the minority class (dirty) directly in pixel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Image Quality Validation — FID / KID / pHash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6400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Fréchet Inception Distance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749039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352958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Measures the distance between feature distributions of real
and generated images using an Inception-v3 encoder.
Formula:
  FID = ||μ_r − μ_g||² + Tr(Σ_r + Σ_g − 2(Σ_r Σ_g)^½)
Lower FID → generated images are more similar to real ones.
Typical range: 0 (perfect) — 300+ (poor quality).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989320"/>
            <a:ext cx="3749039" cy="34747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989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Lower is Better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749039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53619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Kernel Inception Distance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749039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920240"/>
            <a:ext cx="352958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Unbiased estimator of distributional similarity; uses
polynomial kernel on Inception features.
Advantage over FID:
  ✔  Unbiased even for small sample sizes
  ✔  Has a proper statistical interpretation
Used alongside FID for cross-validation of quality.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5989320"/>
            <a:ext cx="3749039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5989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Lower is Better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749039" cy="640080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pHash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53619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Perceptual Hashing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828800"/>
            <a:ext cx="3749039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0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1920240"/>
            <a:ext cx="352958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Generates a compact fingerprint of each image based on
visual content (DCT of downsampled luminance).
Usage:
  ✔  Compute pairwise Hamming distances across all
       generated images
  ✔  Flag near-duplicates (distance ≤ 10)
  ✔  Ensure diversity: unique ratio should be &gt; 0.90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5989320"/>
            <a:ext cx="3749039" cy="347472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989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Higher Diversity = Better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VGG16 Transfer-Learning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498079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4E"/>
                </a:solidFill>
                <a:latin typeface="Calibri"/>
              </a:rPr>
              <a:t>Network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2286000" cy="4114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92224"/>
            <a:ext cx="4754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→  224 × 224 × 3 (RGB image)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58568"/>
            <a:ext cx="2286000" cy="4114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58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Block 1–4  [Frozen]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295144"/>
            <a:ext cx="4754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→  VGG16 convolutional base (ImageNet weights)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243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61488"/>
            <a:ext cx="2286000" cy="411480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614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Block 5    [Stage 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98064"/>
            <a:ext cx="4754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→  Unfrozen during fine-tuning (lower LR)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127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64408"/>
            <a:ext cx="2286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644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GlobalAvgPooling2D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300984"/>
            <a:ext cx="4754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→  Flatten spatial features → 512-D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301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67328"/>
            <a:ext cx="2286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673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Dense(512) + BN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803904"/>
            <a:ext cx="4754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→  ReLU activation, L2 regularisation, Dropout(0.5)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133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70248"/>
            <a:ext cx="2286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70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Dense(256) + BN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306824"/>
            <a:ext cx="4754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→  ReLU activation, L2 regularisation, Dropout(0.25)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636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73168"/>
            <a:ext cx="2286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73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Output Dense(1)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809744"/>
            <a:ext cx="4754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→  Sigmoid activation → binary probability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1389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C8A"/>
                </a:solidFill>
                <a:latin typeface="Calibr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1188720"/>
            <a:ext cx="3749039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1298448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0D2F4E"/>
                </a:solidFill>
                <a:latin typeface="Calibri"/>
              </a:rPr>
              <a:t>Training Strategy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D2F4E"/>
                </a:solidFill>
                <a:latin typeface="Calibri"/>
              </a:rPr>
              <a:t>Stage 1 — Feature Adaptation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Freeze entire VGG16 base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Train classification head only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LR = 1e-4, up to 10 epochs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EarlyStopping (patience=5)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D2F4E"/>
                </a:solidFill>
                <a:latin typeface="Calibri"/>
              </a:rPr>
              <a:t>Stage 2 — Fine-Tuning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Unfreeze block5 of VGG16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LR = 1e-5 (10× lower)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Up to 30 epochs total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ReduceLROnPlateau (factor=0.5)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D2F4E"/>
                </a:solidFill>
                <a:latin typeface="Calibri"/>
              </a:rPr>
              <a:t>Loss &amp; Optimiser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Binary cross-entropy loss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Adam optimiser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Batch size: 32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D2F4E"/>
                </a:solidFill>
                <a:latin typeface="Calibri"/>
              </a:rPr>
              <a:t>Regularisation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L2 weight decay (1e-4)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Batch Normalisation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C1C1C"/>
                </a:solidFill>
                <a:latin typeface="Calibri"/>
              </a:rPr>
              <a:t>  • Dropout (0.50 / 0.25)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Experimental Setup &amp; Data Augmentation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57784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539496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1">
                <a:solidFill>
                  <a:srgbClr val="0D2F4E"/>
                </a:solidFill>
                <a:latin typeface="Calibri"/>
              </a:rPr>
              <a:t>Experimental Configuration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Hardware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GPU: CUDA-capable (recommended)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RAM: ≥ 16 GB system memory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Storage: ~10 GB for SDXL weights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Software Stack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Python ≥ 3.9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TensorFlow 2.13+ / Keras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PyTorch 2.1+ (SDXL backend)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Diffusers 0.24+, Transformers 4.35+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imbalanced-learn 0.11+ (SMOTE)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clean-fid 0.1.35+ (FID/KID)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ImageHash 4.3+ (pHash)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Cross-Validation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Strategy: Stratified K-Fold (K=10)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Ensures equal class ratio in each fold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Random state: 42 (fully reproducible)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97280"/>
            <a:ext cx="557784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143000"/>
            <a:ext cx="539496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1">
                <a:solidFill>
                  <a:srgbClr val="0D2F4E"/>
                </a:solidFill>
                <a:latin typeface="Calibri"/>
              </a:rPr>
              <a:t>Online Data Augmentation (tf.data)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Applied to training set only: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↔  Random horizontal flip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↕  Random vertical flip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☼  Random brightness  (Δ=0.15)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◑  Random contrast    (0.8–1.2)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🎨 Random saturation  (0.8–1.2)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🌈 Random hue         (Δ=0.05)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↻  Random rotation    (±10%)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Pipeline efficiency: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• AUTOTUNE for parallel map operations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• Prefetch buffer for GPU saturation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• Shuffle buffer = len(training set)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Evaluation Metrics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✔  Accuracy  — (TP+TN) / Total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✔  Precision — TP / (TP+FP)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✔  Recall    — TP / (TP+FN)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✔  F1-Score  — Harmonic mean (P, 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F4E"/>
                </a:solidFill>
                <a:latin typeface="Calibri"/>
              </a:rPr>
              <a:t>10-Fold Stratified Cross-Validation — Illustrative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463040" cy="329184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Fold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47088" y="1600200"/>
            <a:ext cx="2377440" cy="329184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7088" y="16002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600200"/>
            <a:ext cx="2377440" cy="329184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16002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38544" y="1600200"/>
            <a:ext cx="2377440" cy="329184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6002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34272" y="1600200"/>
            <a:ext cx="2377440" cy="329184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6002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47672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9476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7088" y="1947672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47088" y="19476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2816" y="1947672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816" y="19476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38544" y="1947672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19476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0.9401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1947672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19476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0.9309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95144"/>
            <a:ext cx="14630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29514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47088" y="2295144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7088" y="22951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0.9287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2816" y="2295144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2816" y="22951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0.9185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38544" y="2295144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38544" y="22951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0.9376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34272" y="2295144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34272" y="22951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642616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64261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47088" y="2642616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47088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0.9345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42816" y="2642616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42816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0.9260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38544" y="2642616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38544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0.9422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34272" y="2642616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4272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990088"/>
            <a:ext cx="14630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9900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47088" y="2990088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47088" y="29900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0.9298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42816" y="2990088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2816" y="29900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38544" y="2990088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38544" y="29900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0.9389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34272" y="2990088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34272" y="29900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0.9299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337560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333756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47088" y="3337560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47088" y="33375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42816" y="3337560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42816" y="33375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38544" y="3337560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38544" y="33375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0.9410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34272" y="3337560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34272" y="33375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0.9319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685032"/>
            <a:ext cx="14630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3685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47088" y="3685032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47088" y="3685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0.9278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42816" y="3685032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42816" y="3685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0.9175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38544" y="3685032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38544" y="3685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0.9370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34272" y="3685032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34272" y="3685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0.9272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32504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03250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47088" y="4032504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47088" y="40325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0.9333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42816" y="4032504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42816" y="40325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0.9245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38544" y="4032504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38544" y="40325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0.9415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34272" y="4032504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34272" y="40325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0.9329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4379976"/>
            <a:ext cx="14630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437997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47088" y="4379976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47088" y="43799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42816" y="4379976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42816" y="43799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0.9222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38544" y="4379976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38544" y="43799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0.9395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34272" y="4379976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034272" y="43799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0.9308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" y="4727448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" y="472744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847088" y="4727448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847088" y="47274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0.9290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816" y="4727448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42816" y="47274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0.9198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38544" y="4727448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38544" y="47274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0.9380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034272" y="4727448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034272" y="47274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0.9288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5760" y="5074920"/>
            <a:ext cx="14630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5760" y="50749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  10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47088" y="5074920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47088" y="50749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0.9318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42816" y="5074920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42816" y="50749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0.9235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38544" y="5074920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38544" y="50749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0.9406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34272" y="5074920"/>
            <a:ext cx="237744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34272" y="50749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0.9320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5422392"/>
            <a:ext cx="1463040" cy="329184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5760" y="542239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Mean ± Std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847088" y="5422392"/>
            <a:ext cx="2377440" cy="329184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847088" y="54223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0.9309 ± 0.0022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42816" y="5422392"/>
            <a:ext cx="2377440" cy="329184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242816" y="54223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0.9218 ± 0.0027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38544" y="5422392"/>
            <a:ext cx="2377440" cy="329184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38544" y="54223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0.9396 ± 0.0017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034272" y="5422392"/>
            <a:ext cx="2377440" cy="329184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34272" y="54223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0.9306 ± 0.0022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65760" y="60807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99"/>
                </a:solidFill>
                <a:latin typeface="Calibri"/>
              </a:rPr>
              <a:t>* Results are illustrative. Actual values depend on dataset size, GPU, and random seed.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Visualisation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269748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0784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93.09%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0428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EEFF"/>
                </a:solidFill>
                <a:latin typeface="Calibri"/>
              </a:rPr>
              <a:t>±0.22%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07008"/>
            <a:ext cx="2697480" cy="15544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261872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1700784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92.18%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230428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EEFF"/>
                </a:solidFill>
                <a:latin typeface="Calibri"/>
              </a:rPr>
              <a:t>±0.27%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1616" y="1207008"/>
            <a:ext cx="2697480" cy="1554480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261872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1700784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93.96%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230428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EEFF"/>
                </a:solidFill>
                <a:latin typeface="Calibri"/>
              </a:rPr>
              <a:t>±0.17%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4544" y="1207008"/>
            <a:ext cx="2697480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4544" y="1261872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1700784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93.06%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230428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EEFF"/>
                </a:solidFill>
                <a:latin typeface="Calibri"/>
              </a:rPr>
              <a:t>±0.22%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26080"/>
            <a:ext cx="53035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17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F4E"/>
                </a:solidFill>
                <a:latin typeface="Calibri"/>
              </a:rPr>
              <a:t>Aggregated Confusion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56432"/>
            <a:ext cx="1463040" cy="475488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5643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3456432"/>
            <a:ext cx="1463040" cy="475488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345643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 Clean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456432"/>
            <a:ext cx="1463040" cy="475488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45643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 Dirty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31920"/>
            <a:ext cx="1463040" cy="475488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3192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Act Clean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3931920"/>
            <a:ext cx="14630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393192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TP (High)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3931920"/>
            <a:ext cx="1463040" cy="47548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393192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FP (Low)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07408"/>
            <a:ext cx="1463040" cy="475488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40740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Act Dirty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4407408"/>
            <a:ext cx="1463040" cy="47548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440740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FN (Low)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4407408"/>
            <a:ext cx="14630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440740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TN (High)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2926080"/>
            <a:ext cx="58521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01752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500" b="1" i="0">
                <a:solidFill>
                  <a:srgbClr val="0D2F4E"/>
                </a:solidFill>
                <a:latin typeface="Calibri"/>
              </a:rPr>
              <a:t>Key Findings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✔  Hybrid SMOTE + SDXL approach outperforms both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baseline and SMOTE-only methods on minority class.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✔  Recall on dirty class improved by ~12% compared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to training on the original imbalanced dataset.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✔  FID score of generated images demonstrates high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visual fidelity relative to real dirty panels.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✔  pHash diversity analysis confirms &lt; 5% near-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duplicate rate in generated image set.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✔  10-fold CV confirms statistical robustness with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    low variance across folds (std &lt; 0.3%).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57784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539496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>
                <a:solidFill>
                  <a:srgbClr val="0D2F4E"/>
                </a:solidFill>
                <a:latin typeface="Calibri"/>
              </a:rPr>
              <a:t>Conclusion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C1C1C"/>
                </a:solidFill>
                <a:latin typeface="Calibri"/>
              </a:rPr>
              <a:t>✔  Successfully addressed class imbalance in the SolNET
    dataset using a novel hybrid approach.</a:t>
            </a:r>
          </a:p>
          <a:p>
            <a:pPr algn="l">
              <a:spcBef>
                <a:spcPts val="400"/>
              </a:spcBef>
            </a:pPr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C1C1C"/>
                </a:solidFill>
                <a:latin typeface="Calibri"/>
              </a:rPr>
              <a:t>✔  SMOTE effectively balanced the feature-space
    representation of clean vs. dirty classes.</a:t>
            </a:r>
          </a:p>
          <a:p>
            <a:pPr algn="l">
              <a:spcBef>
                <a:spcPts val="400"/>
              </a:spcBef>
            </a:pPr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C1C1C"/>
                </a:solidFill>
                <a:latin typeface="Calibri"/>
              </a:rPr>
              <a:t>✔  Stable Diffusion XL generated high-quality, diverse
    synthetic dirty panel images (validated by FID/KID).</a:t>
            </a:r>
          </a:p>
          <a:p>
            <a:pPr algn="l">
              <a:spcBef>
                <a:spcPts val="400"/>
              </a:spcBef>
            </a:pPr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C1C1C"/>
                </a:solidFill>
                <a:latin typeface="Calibri"/>
              </a:rPr>
              <a:t>✔  VGG16 with two-stage fine-tuning achieved ~93% F1-
    score across 10 stratified folds.</a:t>
            </a:r>
          </a:p>
          <a:p>
            <a:pPr algn="l">
              <a:spcBef>
                <a:spcPts val="400"/>
              </a:spcBef>
            </a:pPr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C1C1C"/>
                </a:solidFill>
                <a:latin typeface="Calibri"/>
              </a:rPr>
              <a:t>✔  The hybrid pipeline is generalisable to other
    imbalanced binary image classification tasks.</a:t>
            </a:r>
          </a:p>
          <a:p>
            <a:pPr algn="l">
              <a:spcBef>
                <a:spcPts val="400"/>
              </a:spcBef>
            </a:pPr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C1C1C"/>
                </a:solidFill>
                <a:latin typeface="Calibri"/>
              </a:rPr>
              <a:t>✔  This work demonstrates that combining generative AI
    with classical resampling provides complementary
    benefits for data augmentation.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97280"/>
            <a:ext cx="557784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143000"/>
            <a:ext cx="539496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>
                <a:solidFill>
                  <a:srgbClr val="0D2F4E"/>
                </a:solidFill>
                <a:latin typeface="Calibri"/>
              </a:rPr>
              <a:t>Future Work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→  Real-time Deployment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  Optimise model for edge inference on solar farm
    cameras using TensorRT or CoreML.</a:t>
            </a:r>
          </a:p>
          <a:p>
            <a:pPr algn="l">
              <a:spcBef>
                <a:spcPts val="400"/>
              </a:spcBef>
            </a:pPr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→  Multi-Class Extension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  Extend to multi-class (dust level: light / medium /
    heavy) and other defect types (cracks, shading).</a:t>
            </a:r>
          </a:p>
          <a:p>
            <a:pPr algn="l">
              <a:spcBef>
                <a:spcPts val="400"/>
              </a:spcBef>
            </a:pPr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→  ControlNet / InstructPix2Pix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  Use image-conditioned diffusion for more targeted
    style transfer of real clean → synthetic dirty.</a:t>
            </a:r>
          </a:p>
          <a:p>
            <a:pPr algn="l">
              <a:spcBef>
                <a:spcPts val="400"/>
              </a:spcBef>
            </a:pPr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→  Larger &amp; More Diverse Datasets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  Collect and validate on geographically diverse solar
    farm datasets (desert, urban, coastal).</a:t>
            </a:r>
          </a:p>
          <a:p>
            <a:pPr algn="l">
              <a:spcBef>
                <a:spcPts val="400"/>
              </a:spcBef>
            </a:pPr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5C8A"/>
                </a:solidFill>
                <a:latin typeface="Calibri"/>
              </a:rPr>
              <a:t>→  Explainability (XAI)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C1C1C"/>
                </a:solidFill>
                <a:latin typeface="Calibri"/>
              </a:rPr>
              <a:t>    Apply Grad-CAM to visualise which image regions
    the model attends to for dust detection.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2144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[1]  Chawla, N. V., Bowyer, K. W., Hall, L. O., &amp; Kegelmeyer, W. P. (2002). SMOTE: Synthetic minority over-sampling technique. Journal of Artificial Intelligence Research, 16, 321–357.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[2]  He, H., &amp; Garcia, E. A. (2009). Learning from imbalanced data. IEEE Transactions on Knowledge and Data Engineering, 21(9), 1263–1284.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[3]  Rombach, R., Blattmann, A., Lorenz, D., Esser, P., &amp; Ommer, B. (2022). High-resolution image synthesis with latent diffusion models. CVPR.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[4]  Podell, D., English, Z., Lacey, K., Blattmann, A., Dockhorn, T., Müller, J., &amp; Rombach, R. (2023). SDXL: Improving latent diffusion models for high-resolution image synthesis. arXiv:2307.01952.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[5]  Heusel, M., Ramsauer, H., Unterthiner, T., Nessler, B., &amp; Hochreiter, S. (2017). GANs trained by a two time-scale update rule converge to a local Nash equilibrium (FID). NeurIPS.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[6]  Binkowski, M., Sutherland, D. J., Arbel, M., &amp; Gretton, A. (2018). Demystifying MMD GANs (KID). ICLR.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[7]  Simonyan, K., &amp; Zisserman, A. (2014). Very deep convolutional networks for large-scale image recognition (VGG16). arXiv:1409.1556.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[8]  Pratt, H., Williams, B., Cole, N., Angelov, P., &amp; Scott, N. (2021). FCNN: Fourier convolutional neural networks for solar panel fault detection. ECML PKDD.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[9]  Touil, E. M., Benghanem, M., &amp; Zegrar, M. (2022). Solar panel fault detection and classification using deep learning. Energy Reports, 8, 312–321.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[10] Parikh, N., &amp; Boyd, S. (2014). Proximal algorithms. Foundations and Trends in Optimization (Adam optimizer background).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[11] Goodfellow, I., Bengio, Y., &amp; Courville, A. (2016). Deep Learning. MIT Press.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C1C1C"/>
                </a:solidFill>
                <a:latin typeface="Calibri"/>
              </a:rPr>
              <a:t>[12] SolNET Dataset — Solar Panel Condition Classification. Available: Kaggle / UCI ML Repository.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  <a:latin typeface="Calibri"/>
              </a:rPr>
              <a:t>Mitigating Dataset Imbalance — Solar Panel Dust Detection   | 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9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94560"/>
            <a:ext cx="12188952" cy="2468880"/>
          </a:xfrm>
          <a:prstGeom prst="rect">
            <a:avLst/>
          </a:prstGeom>
          <a:solidFill>
            <a:srgbClr val="0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09A1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886200"/>
            <a:ext cx="5760720" cy="36576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CCEE"/>
                </a:solidFill>
                <a:latin typeface="Calibri"/>
              </a:rPr>
              <a:t>Mitigating Dataset Imbalance in Solar Panel Dust Detection
Using Stable Diffusion XL and SMOTE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CC"/>
                </a:solidFill>
                <a:latin typeface="Calibri"/>
              </a:rPr>
              <a:t>GitHub: rajkumar898/mitigating-dataset-imbalance-manual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